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"/>
              </a:defRPr>
            </a:pPr>
            <a:r>
              <a:t>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94949E"/>
                </a:solidFill>
                <a:latin typeface="Arial"/>
              </a:defRPr>
            </a:pPr>
            <a:r>
              <a:t>AI Adoption &amp; Compliance for Irish Enterprise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0040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C3AED"/>
                </a:solidFill>
                <a:latin typeface="Arial"/>
              </a:defRPr>
            </a:pPr>
            <a:r>
              <a:t>Ireland's Best Young Entrepreneur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9E"/>
                </a:solidFill>
                <a:latin typeface="Arial"/>
              </a:defRPr>
            </a:pPr>
            <a:r>
              <a:t>Dylan Cleary  ·  Dublin Docklands  ·  info@dylancleary.com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853428"/>
            <a:ext cx="12191695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949E"/>
                </a:solidFill>
                <a:latin typeface="Arial"/>
              </a:defRPr>
            </a:pPr>
            <a:r>
              <a:t>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949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rial"/>
              </a:defRPr>
            </a:pPr>
            <a: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Irish businesses aren't ready for the EU AI 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7C3AED"/>
                </a:solidFill>
                <a:latin typeface="Arial"/>
              </a:defRPr>
            </a:pPr>
            <a:r>
              <a:t>3,000+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49E"/>
                </a:solidFill>
                <a:latin typeface="Arial"/>
              </a:defRPr>
            </a:pPr>
            <a:r>
              <a:t>Irish mid-market enterprises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7C3AED"/>
                </a:solidFill>
                <a:latin typeface="Arial"/>
              </a:defRPr>
            </a:pPr>
            <a:r>
              <a:t>€35M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49E"/>
                </a:solidFill>
                <a:latin typeface="Arial"/>
              </a:defRPr>
            </a:pPr>
            <a:r>
              <a:t>Maximum fine per violation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7C3AED"/>
                </a:solidFill>
                <a:latin typeface="Arial"/>
              </a:defRPr>
            </a:pPr>
            <a:r>
              <a:t>76%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49E"/>
                </a:solidFill>
                <a:latin typeface="Arial"/>
              </a:defRPr>
            </a:pPr>
            <a:r>
              <a:t>Have no AI compliance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566160"/>
            <a:ext cx="9144000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9319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4949E"/>
                </a:solidFill>
                <a:latin typeface="Arial"/>
              </a:defRPr>
            </a:pPr>
            <a:r>
              <a:t>The EU AI Act is being enforced now. Most Irish companies don't know if they're compliant.</a:t>
            </a:r>
          </a:p>
          <a:p>
            <a:pPr>
              <a:spcAft>
                <a:spcPts val="800"/>
              </a:spcAft>
              <a:defRPr sz="1600">
                <a:solidFill>
                  <a:srgbClr val="94949E"/>
                </a:solidFill>
                <a:latin typeface="Arial"/>
              </a:defRPr>
            </a:pPr>
            <a:r>
              <a:t>Big 4 consultancies charge €1,500-3,000/day — pricing out the mid-market entirely.</a:t>
            </a:r>
          </a:p>
          <a:p>
            <a:pPr>
              <a:spcAft>
                <a:spcPts val="800"/>
              </a:spcAft>
              <a:defRPr sz="1600">
                <a:solidFill>
                  <a:srgbClr val="94949E"/>
                </a:solidFill>
                <a:latin typeface="Arial"/>
              </a:defRPr>
            </a:pPr>
            <a:r>
              <a:t>There's no accessible bridge between enterprise-grade AI expertise and what Irish SMEs can afford.</a:t>
            </a:r>
          </a:p>
          <a:p>
            <a:pPr>
              <a:spcAft>
                <a:spcPts val="800"/>
              </a:spcAft>
              <a:defRPr sz="1600">
                <a:solidFill>
                  <a:srgbClr val="94949E"/>
                </a:solidFill>
                <a:latin typeface="Arial"/>
              </a:defRPr>
            </a:pPr>
            <a:r>
              <a:t>autoprod is that bridge.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949E"/>
                </a:solidFill>
                <a:latin typeface="Arial"/>
              </a:defRPr>
            </a:pPr>
            <a:r>
              <a:t>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949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Enterprise AI governance at mid-market pricing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2468880" cy="201168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Compliance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Arial"/>
              </a:defRPr>
            </a:pPr>
            <a:r>
              <a:t>€197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49E"/>
                </a:solidFill>
                <a:latin typeface="Arial"/>
              </a:defRPr>
            </a:pPr>
            <a:r>
              <a:t>Self-serve EU AI Act framework. Instant download.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194560"/>
            <a:ext cx="2468880" cy="201168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AI Readiness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Arial"/>
              </a:defRPr>
            </a:pPr>
            <a:r>
              <a:t>€750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3832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49E"/>
                </a:solidFill>
                <a:latin typeface="Arial"/>
              </a:defRPr>
            </a:pPr>
            <a:r>
              <a:t>2-hour session. Compliance gaps + roadmap.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2468880" cy="201168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Strategy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Arial"/>
              </a:defRPr>
            </a:pPr>
            <a:r>
              <a:t>€1,500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49E"/>
                </a:solidFill>
                <a:latin typeface="Arial"/>
              </a:defRPr>
            </a:pPr>
            <a:r>
              <a:t>Agentic workflow design + compliance architecture.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2194560"/>
            <a:ext cx="2468880" cy="201168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59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Advisory Retainer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Arial"/>
              </a:defRPr>
            </a:pPr>
            <a:r>
              <a:t>€2,000/mo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59" y="33832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49E"/>
                </a:solidFill>
                <a:latin typeface="Arial"/>
              </a:defRPr>
            </a:pPr>
            <a:r>
              <a:t>Fractional AI officer. Monthly, cancel anytime.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663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4949E"/>
                </a:solidFill>
                <a:latin typeface="Arial"/>
              </a:defRPr>
            </a:pPr>
            <a:r>
              <a:t>All services: Dublin Docklands or Zoom  ·  Evenings &amp; weekends  ·  No enterprise procurement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949E"/>
                </a:solidFill>
                <a:latin typeface="Arial"/>
              </a:defRPr>
            </a:pPr>
            <a:r>
              <a:t>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949E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rial"/>
              </a:defRPr>
            </a:pPr>
            <a:r>
              <a:t>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Live, operational, and ready to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7C3AED"/>
                </a:solidFill>
                <a:latin typeface="Arial"/>
              </a:defRPr>
            </a:pPr>
            <a:r>
              <a:t>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49E"/>
                </a:solidFill>
                <a:latin typeface="Arial"/>
              </a:defRPr>
            </a:pPr>
            <a:r>
              <a:t>Irish enterprises contacted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7C3AED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49E"/>
                </a:solidFill>
                <a:latin typeface="Arial"/>
              </a:defRPr>
            </a:pPr>
            <a:r>
              <a:t>Sellable products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7C3AED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49E"/>
                </a:solidFill>
                <a:latin typeface="Arial"/>
              </a:defRPr>
            </a:pPr>
            <a:r>
              <a:t>Automated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7C3AED"/>
                </a:solidFill>
                <a:latin typeface="Arial"/>
              </a:defRPr>
            </a:pPr>
            <a:r>
              <a:t>€17.5K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49E"/>
                </a:solidFill>
                <a:latin typeface="Arial"/>
              </a:defRPr>
            </a:pPr>
            <a:r>
              <a:t>Grant applications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566160"/>
            <a:ext cx="9144000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9319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4949E"/>
                </a:solidFill>
                <a:latin typeface="Arial"/>
              </a:defRPr>
            </a:pPr>
            <a:r>
              <a:t>autoprod.io — live multi-page website with Stripe payments and SEO</a:t>
            </a:r>
          </a:p>
          <a:p>
            <a:pPr>
              <a:spcAft>
                <a:spcPts val="800"/>
              </a:spcAft>
              <a:defRPr sz="1600">
                <a:solidFill>
                  <a:srgbClr val="94949E"/>
                </a:solidFill>
                <a:latin typeface="Arial"/>
              </a:defRPr>
            </a:pPr>
            <a:r>
              <a:t>Business plan written, deck generator operational, CRM tracking all leads</a:t>
            </a:r>
          </a:p>
          <a:p>
            <a:pPr>
              <a:spcAft>
                <a:spcPts val="800"/>
              </a:spcAft>
              <a:defRPr sz="1600">
                <a:solidFill>
                  <a:srgbClr val="94949E"/>
                </a:solidFill>
                <a:latin typeface="Arial"/>
              </a:defRPr>
            </a:pPr>
            <a:r>
              <a:t>AI-powered agents handling market research, content, sales, and QA 24/7</a:t>
            </a:r>
          </a:p>
          <a:p>
            <a:pPr>
              <a:spcAft>
                <a:spcPts val="800"/>
              </a:spcAft>
              <a:defRPr sz="1600">
                <a:solidFill>
                  <a:srgbClr val="94949E"/>
                </a:solidFill>
                <a:latin typeface="Arial"/>
              </a:defRPr>
            </a:pPr>
            <a:r>
              <a:t>LEO Feasibility Grant + Trading Online Voucher submitted — €17,500 pending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949E"/>
                </a:solidFill>
                <a:latin typeface="Arial"/>
              </a:defRPr>
            </a:pPr>
            <a:r>
              <a:t>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949E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rial"/>
              </a:defRPr>
            </a:pPr>
            <a:r>
              <a:t>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A growing market with regulatory tailwinds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3108960" cy="201168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949E"/>
                </a:solidFill>
                <a:latin typeface="Arial"/>
              </a:defRPr>
            </a:pPr>
            <a:r>
              <a:t>Year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3AED"/>
                </a:solidFill>
                <a:latin typeface="Arial"/>
              </a:defRPr>
            </a:pPr>
            <a:r>
              <a:t>€32K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49E"/>
                </a:solidFill>
                <a:latin typeface="Arial"/>
              </a:defRPr>
            </a:pPr>
            <a:r>
              <a:t>Conservative — 1 client/mo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286000"/>
            <a:ext cx="3108960" cy="201168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949E"/>
                </a:solidFill>
                <a:latin typeface="Arial"/>
              </a:defRPr>
            </a:pPr>
            <a:r>
              <a:t>Year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3AED"/>
                </a:solidFill>
                <a:latin typeface="Arial"/>
              </a:defRPr>
            </a:pPr>
            <a:r>
              <a:t>€84K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49E"/>
                </a:solidFill>
                <a:latin typeface="Arial"/>
              </a:defRPr>
            </a:pPr>
            <a:r>
              <a:t>Moderate — 3 retainers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286000"/>
            <a:ext cx="3108960" cy="201168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949E"/>
                </a:solidFill>
                <a:latin typeface="Arial"/>
              </a:defRPr>
            </a:pPr>
            <a:r>
              <a:t>Year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3AED"/>
                </a:solidFill>
                <a:latin typeface="Arial"/>
              </a:defRPr>
            </a:pPr>
            <a:r>
              <a:t>€135K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49E"/>
                </a:solidFill>
                <a:latin typeface="Arial"/>
              </a:defRPr>
            </a:pPr>
            <a:r>
              <a:t>Growth — 5 retainers +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634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949E"/>
                </a:solidFill>
                <a:latin typeface="Arial"/>
              </a:defRPr>
            </a:pPr>
            <a:r>
              <a:t>Addressable market: 3,000+ Irish mid-market enterprises (50-500 employees)</a:t>
            </a:r>
          </a:p>
          <a:p>
            <a:pPr>
              <a:spcAft>
                <a:spcPts val="800"/>
              </a:spcAft>
              <a:defRPr sz="1400">
                <a:solidFill>
                  <a:srgbClr val="94949E"/>
                </a:solidFill>
                <a:latin typeface="Arial"/>
              </a:defRPr>
            </a:pPr>
            <a:r>
              <a:t>EU AI Act compliance is mandatory — driving demand regardless of economic conditions</a:t>
            </a:r>
          </a:p>
          <a:p>
            <a:pPr>
              <a:spcAft>
                <a:spcPts val="800"/>
              </a:spcAft>
              <a:defRPr sz="1400">
                <a:solidFill>
                  <a:srgbClr val="94949E"/>
                </a:solidFill>
                <a:latin typeface="Arial"/>
              </a:defRPr>
            </a:pPr>
            <a:r>
              <a:t>90%+ net margins. Asset-light business model. Zero inventory. Zero office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949E"/>
                </a:solidFill>
                <a:latin typeface="Arial"/>
              </a:defRPr>
            </a:pPr>
            <a:r>
              <a:t>autoprod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949E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Arial"/>
              </a:defRPr>
            </a:pPr>
            <a:r>
              <a:t>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Enterprise experience meets entrepreneurial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Professional Background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▸ 4+ years AI governance at a global enterprise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▸ Co-founded AI Council for 200+ person organization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▸ Designed and deployed AI agents at enterprise scale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▸ Trained teams across 4 continents on AI adoption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▸ Built quality review automation saving 40+ hrs/week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Why autoprod Wins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▸ Not theory — real governance frameworks that passed regulatory scrutiny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▸ Hospitality background — understands service industry operations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▸ NCI computing qualification + enterprise operations expertise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▸ Based in Dublin Docklands — heart of Ireland's tech scene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▸ Building autoprod while employed — proven hustle and time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Irish business needs AI help.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7C3AED"/>
                </a:solidFill>
                <a:latin typeface="Arial"/>
              </a:defRPr>
            </a:pPr>
            <a:r>
              <a:t>autoprod is ready to deliver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144000" cy="45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Dylan Cleary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info@dylancleary.com  ·  085 850 8668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Dublin Docklands  ·  autoprod.io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