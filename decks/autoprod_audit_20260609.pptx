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1371600" y="2286000"/>
            <a:ext cx="9144000" cy="1371600"/>
          </a:xfrm>
          <a:prstGeom prst="rect">
            <a:avLst/>
          </a:prstGeom>
          <a:noFill/>
        </p:spPr>
        <p:txBody>
          <a:bodyPr wrap="square">
            <a:spAutoFit/>
          </a:bodyPr>
          <a:lstStyle/>
          <a:p>
            <a:pPr algn="l">
              <a:defRPr sz="4400" b="1">
                <a:solidFill>
                  <a:srgbClr val="FFFFFF"/>
                </a:solidFill>
                <a:latin typeface="Inter"/>
              </a:defRPr>
            </a:pPr>
            <a:r>
              <a:t>autoprod × autoprod</a:t>
            </a:r>
          </a:p>
        </p:txBody>
      </p:sp>
      <p:sp>
        <p:nvSpPr>
          <p:cNvPr id="3" name="TextBox 2"/>
          <p:cNvSpPr txBox="1"/>
          <p:nvPr/>
        </p:nvSpPr>
        <p:spPr>
          <a:xfrm>
            <a:off x="1371600" y="3657600"/>
            <a:ext cx="9144000" cy="914400"/>
          </a:xfrm>
          <a:prstGeom prst="rect">
            <a:avLst/>
          </a:prstGeom>
          <a:noFill/>
        </p:spPr>
        <p:txBody>
          <a:bodyPr wrap="square">
            <a:spAutoFit/>
          </a:bodyPr>
          <a:lstStyle/>
          <a:p>
            <a:pPr algn="l">
              <a:defRPr sz="2800" b="0">
                <a:solidFill>
                  <a:srgbClr val="8A8A8E"/>
                </a:solidFill>
                <a:latin typeface="Inter"/>
              </a:defRPr>
            </a:pPr>
            <a:r>
              <a:t>AI Readiness Audit</a:t>
            </a:r>
          </a:p>
        </p:txBody>
      </p:sp>
      <p:sp>
        <p:nvSpPr>
          <p:cNvPr id="4" name="TextBox 3"/>
          <p:cNvSpPr txBox="1"/>
          <p:nvPr/>
        </p:nvSpPr>
        <p:spPr>
          <a:xfrm>
            <a:off x="1371600" y="4389120"/>
            <a:ext cx="9144000" cy="731520"/>
          </a:xfrm>
          <a:prstGeom prst="rect">
            <a:avLst/>
          </a:prstGeom>
          <a:noFill/>
        </p:spPr>
        <p:txBody>
          <a:bodyPr wrap="square">
            <a:spAutoFit/>
          </a:bodyPr>
          <a:lstStyle/>
          <a:p>
            <a:pPr algn="l">
              <a:defRPr sz="1600" b="0">
                <a:solidFill>
                  <a:srgbClr val="8A8A8E"/>
                </a:solidFill>
                <a:latin typeface="Inter"/>
              </a:defRPr>
            </a:pPr>
            <a:r>
              <a:t>Prepared for autoprod — AI Consulting  ·  June 2026</a:t>
            </a:r>
          </a:p>
        </p:txBody>
      </p:sp>
      <p:sp>
        <p:nvSpPr>
          <p:cNvPr id="5" name="TextBox 4"/>
          <p:cNvSpPr txBox="1"/>
          <p:nvPr/>
        </p:nvSpPr>
        <p:spPr>
          <a:xfrm>
            <a:off x="1371600" y="5943600"/>
            <a:ext cx="9144000" cy="457200"/>
          </a:xfrm>
          <a:prstGeom prst="rect">
            <a:avLst/>
          </a:prstGeom>
          <a:noFill/>
        </p:spPr>
        <p:txBody>
          <a:bodyPr wrap="square">
            <a:spAutoFit/>
          </a:bodyPr>
          <a:lstStyle/>
          <a:p>
            <a:pPr algn="l">
              <a:defRPr sz="1200" b="0">
                <a:solidFill>
                  <a:srgbClr val="8A8A8E"/>
                </a:solidFill>
                <a:latin typeface="Inter"/>
              </a:defRPr>
            </a:pPr>
            <a:r>
              <a:t>Dylan Cleary · dylan@autoprod.io · Dublin Docklands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1371600" y="457200"/>
            <a:ext cx="914400" cy="457200"/>
          </a:xfrm>
          <a:prstGeom prst="rect">
            <a:avLst/>
          </a:prstGeom>
          <a:noFill/>
        </p:spPr>
        <p:txBody>
          <a:bodyPr wrap="square">
            <a:spAutoFit/>
          </a:bodyPr>
          <a:lstStyle/>
          <a:p>
            <a:pPr algn="l">
              <a:defRPr sz="1600" b="1">
                <a:solidFill>
                  <a:srgbClr val="7C3AED"/>
                </a:solidFill>
                <a:latin typeface="Inter"/>
              </a:defRPr>
            </a:pPr>
            <a:r>
              <a:t>01</a:t>
            </a:r>
          </a:p>
        </p:txBody>
      </p:sp>
      <p:sp>
        <p:nvSpPr>
          <p:cNvPr id="3" name="TextBox 2"/>
          <p:cNvSpPr txBox="1"/>
          <p:nvPr/>
        </p:nvSpPr>
        <p:spPr>
          <a:xfrm>
            <a:off x="1371600" y="1371600"/>
            <a:ext cx="9144000" cy="1371600"/>
          </a:xfrm>
          <a:prstGeom prst="rect">
            <a:avLst/>
          </a:prstGeom>
          <a:noFill/>
        </p:spPr>
        <p:txBody>
          <a:bodyPr wrap="square">
            <a:spAutoFit/>
          </a:bodyPr>
          <a:lstStyle/>
          <a:p>
            <a:pPr algn="l">
              <a:defRPr sz="3600" b="1">
                <a:solidFill>
                  <a:srgbClr val="FFFFFF"/>
                </a:solidFill>
                <a:latin typeface="Inter"/>
              </a:defRPr>
            </a:pPr>
            <a:r>
              <a:t>Where you are today</a:t>
            </a:r>
          </a:p>
        </p:txBody>
      </p:sp>
      <p:sp>
        <p:nvSpPr>
          <p:cNvPr id="4" name="TextBox 3"/>
          <p:cNvSpPr txBox="1"/>
          <p:nvPr/>
        </p:nvSpPr>
        <p:spPr>
          <a:xfrm>
            <a:off x="1371600" y="2926080"/>
            <a:ext cx="7315200" cy="1828800"/>
          </a:xfrm>
          <a:prstGeom prst="rect">
            <a:avLst/>
          </a:prstGeom>
          <a:noFill/>
        </p:spPr>
        <p:txBody>
          <a:bodyPr wrap="square">
            <a:spAutoFit/>
          </a:bodyPr>
          <a:lstStyle/>
          <a:p>
            <a:pPr algn="l">
              <a:defRPr sz="1800" b="0">
                <a:solidFill>
                  <a:srgbClr val="8A8A8E"/>
                </a:solidFill>
                <a:latin typeface="Inter"/>
              </a:defRPr>
            </a:pPr>
            <a:r>
              <a:t>Every company is somewhere on the AI maturity curve. We'll map your current position — what's working, what's experimental, what's not even on the radar yet.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1371600" y="457200"/>
            <a:ext cx="914400" cy="457200"/>
          </a:xfrm>
          <a:prstGeom prst="rect">
            <a:avLst/>
          </a:prstGeom>
          <a:noFill/>
        </p:spPr>
        <p:txBody>
          <a:bodyPr wrap="square">
            <a:spAutoFit/>
          </a:bodyPr>
          <a:lstStyle/>
          <a:p>
            <a:pPr algn="l">
              <a:defRPr sz="1600" b="1">
                <a:solidFill>
                  <a:srgbClr val="7C3AED"/>
                </a:solidFill>
                <a:latin typeface="Inter"/>
              </a:defRPr>
            </a:pPr>
            <a:r>
              <a:t>02</a:t>
            </a:r>
          </a:p>
        </p:txBody>
      </p:sp>
      <p:sp>
        <p:nvSpPr>
          <p:cNvPr id="3" name="TextBox 2"/>
          <p:cNvSpPr txBox="1"/>
          <p:nvPr/>
        </p:nvSpPr>
        <p:spPr>
          <a:xfrm>
            <a:off x="1371600" y="1371600"/>
            <a:ext cx="9144000" cy="1371600"/>
          </a:xfrm>
          <a:prstGeom prst="rect">
            <a:avLst/>
          </a:prstGeom>
          <a:noFill/>
        </p:spPr>
        <p:txBody>
          <a:bodyPr wrap="square">
            <a:spAutoFit/>
          </a:bodyPr>
          <a:lstStyle/>
          <a:p>
            <a:pPr algn="l">
              <a:defRPr sz="3600" b="1">
                <a:solidFill>
                  <a:srgbClr val="FFFFFF"/>
                </a:solidFill>
                <a:latin typeface="Inter"/>
              </a:defRPr>
            </a:pPr>
            <a:r>
              <a:t>What the EU AI Act means for you</a:t>
            </a:r>
          </a:p>
        </p:txBody>
      </p:sp>
      <p:sp>
        <p:nvSpPr>
          <p:cNvPr id="4" name="TextBox 3"/>
          <p:cNvSpPr txBox="1"/>
          <p:nvPr/>
        </p:nvSpPr>
        <p:spPr>
          <a:xfrm>
            <a:off x="1371600" y="2926080"/>
            <a:ext cx="7315200" cy="1828800"/>
          </a:xfrm>
          <a:prstGeom prst="rect">
            <a:avLst/>
          </a:prstGeom>
          <a:noFill/>
        </p:spPr>
        <p:txBody>
          <a:bodyPr wrap="square">
            <a:spAutoFit/>
          </a:bodyPr>
          <a:lstStyle/>
          <a:p>
            <a:pPr algn="l">
              <a:defRPr sz="1800" b="0">
                <a:solidFill>
                  <a:srgbClr val="8A8A8E"/>
                </a:solidFill>
                <a:latin typeface="Inter"/>
              </a:defRPr>
            </a:pPr>
            <a:r>
              <a:t>Not every AI system is regulated the same way. We classify your current and planned AI use against the Act's risk categories, so you know exactly what compliance looks like for your business.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1371600" y="457200"/>
            <a:ext cx="914400" cy="457200"/>
          </a:xfrm>
          <a:prstGeom prst="rect">
            <a:avLst/>
          </a:prstGeom>
          <a:noFill/>
        </p:spPr>
        <p:txBody>
          <a:bodyPr wrap="square">
            <a:spAutoFit/>
          </a:bodyPr>
          <a:lstStyle/>
          <a:p>
            <a:pPr algn="l">
              <a:defRPr sz="1600" b="1">
                <a:solidFill>
                  <a:srgbClr val="7C3AED"/>
                </a:solidFill>
                <a:latin typeface="Inter"/>
              </a:defRPr>
            </a:pPr>
            <a:r>
              <a:t>03</a:t>
            </a:r>
          </a:p>
        </p:txBody>
      </p:sp>
      <p:sp>
        <p:nvSpPr>
          <p:cNvPr id="3" name="TextBox 2"/>
          <p:cNvSpPr txBox="1"/>
          <p:nvPr/>
        </p:nvSpPr>
        <p:spPr>
          <a:xfrm>
            <a:off x="1371600" y="1371600"/>
            <a:ext cx="9144000" cy="1371600"/>
          </a:xfrm>
          <a:prstGeom prst="rect">
            <a:avLst/>
          </a:prstGeom>
          <a:noFill/>
        </p:spPr>
        <p:txBody>
          <a:bodyPr wrap="square">
            <a:spAutoFit/>
          </a:bodyPr>
          <a:lstStyle/>
          <a:p>
            <a:pPr algn="l">
              <a:defRPr sz="3600" b="1">
                <a:solidFill>
                  <a:srgbClr val="FFFFFF"/>
                </a:solidFill>
                <a:latin typeface="Inter"/>
              </a:defRPr>
            </a:pPr>
            <a:r>
              <a:t>What's worth automating</a:t>
            </a:r>
          </a:p>
        </p:txBody>
      </p:sp>
      <p:sp>
        <p:nvSpPr>
          <p:cNvPr id="4" name="TextBox 3"/>
          <p:cNvSpPr txBox="1"/>
          <p:nvPr/>
        </p:nvSpPr>
        <p:spPr>
          <a:xfrm>
            <a:off x="1371600" y="2926080"/>
            <a:ext cx="7315200" cy="1828800"/>
          </a:xfrm>
          <a:prstGeom prst="rect">
            <a:avLst/>
          </a:prstGeom>
          <a:noFill/>
        </p:spPr>
        <p:txBody>
          <a:bodyPr wrap="square">
            <a:spAutoFit/>
          </a:bodyPr>
          <a:lstStyle/>
          <a:p>
            <a:pPr algn="l">
              <a:defRPr sz="1800" b="0">
                <a:solidFill>
                  <a:srgbClr val="8A8A8E"/>
                </a:solidFill>
                <a:latin typeface="Inter"/>
              </a:defRPr>
            </a:pPr>
            <a:r>
              <a:t>Not everything that can be automated should be. We identify the highest-ROI opportunities — the ones that save money, speed up operations, or give you a competitive edge — and rank them by impact.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1371600" y="731520"/>
            <a:ext cx="9144000" cy="914400"/>
          </a:xfrm>
          <a:prstGeom prst="rect">
            <a:avLst/>
          </a:prstGeom>
          <a:noFill/>
        </p:spPr>
        <p:txBody>
          <a:bodyPr wrap="square">
            <a:spAutoFit/>
          </a:bodyPr>
          <a:lstStyle/>
          <a:p>
            <a:pPr algn="l">
              <a:defRPr sz="2800" b="1">
                <a:solidFill>
                  <a:srgbClr val="FFFFFF"/>
                </a:solidFill>
                <a:latin typeface="Inter"/>
              </a:defRPr>
            </a:pPr>
            <a:r>
              <a:t>What we assessed</a:t>
            </a:r>
          </a:p>
        </p:txBody>
      </p:sp>
      <p:sp>
        <p:nvSpPr>
          <p:cNvPr id="3" name="TextBox 2"/>
          <p:cNvSpPr txBox="1"/>
          <p:nvPr/>
        </p:nvSpPr>
        <p:spPr>
          <a:xfrm>
            <a:off x="1828800" y="1828800"/>
            <a:ext cx="8229600" cy="548640"/>
          </a:xfrm>
          <a:prstGeom prst="rect">
            <a:avLst/>
          </a:prstGeom>
          <a:noFill/>
        </p:spPr>
        <p:txBody>
          <a:bodyPr wrap="square">
            <a:spAutoFit/>
          </a:bodyPr>
          <a:lstStyle/>
          <a:p>
            <a:pPr algn="l">
              <a:defRPr sz="1600" b="0">
                <a:solidFill>
                  <a:srgbClr val="FFFFFF"/>
                </a:solidFill>
                <a:latin typeface="Inter"/>
              </a:defRPr>
            </a:pPr>
            <a:r>
              <a:t>▸ Current AI tools and systems in use</a:t>
            </a:r>
          </a:p>
        </p:txBody>
      </p:sp>
      <p:sp>
        <p:nvSpPr>
          <p:cNvPr id="4" name="TextBox 3"/>
          <p:cNvSpPr txBox="1"/>
          <p:nvPr/>
        </p:nvSpPr>
        <p:spPr>
          <a:xfrm>
            <a:off x="1828800" y="2331720"/>
            <a:ext cx="8229600" cy="548640"/>
          </a:xfrm>
          <a:prstGeom prst="rect">
            <a:avLst/>
          </a:prstGeom>
          <a:noFill/>
        </p:spPr>
        <p:txBody>
          <a:bodyPr wrap="square">
            <a:spAutoFit/>
          </a:bodyPr>
          <a:lstStyle/>
          <a:p>
            <a:pPr algn="l">
              <a:defRPr sz="1600" b="0">
                <a:solidFill>
                  <a:srgbClr val="FFFFFF"/>
                </a:solidFill>
                <a:latin typeface="Inter"/>
              </a:defRPr>
            </a:pPr>
            <a:r>
              <a:t>▸ Data readiness — what you have, what's missing</a:t>
            </a:r>
          </a:p>
        </p:txBody>
      </p:sp>
      <p:sp>
        <p:nvSpPr>
          <p:cNvPr id="5" name="TextBox 4"/>
          <p:cNvSpPr txBox="1"/>
          <p:nvPr/>
        </p:nvSpPr>
        <p:spPr>
          <a:xfrm>
            <a:off x="1828800" y="2834639"/>
            <a:ext cx="8229600" cy="548640"/>
          </a:xfrm>
          <a:prstGeom prst="rect">
            <a:avLst/>
          </a:prstGeom>
          <a:noFill/>
        </p:spPr>
        <p:txBody>
          <a:bodyPr wrap="square">
            <a:spAutoFit/>
          </a:bodyPr>
          <a:lstStyle/>
          <a:p>
            <a:pPr algn="l">
              <a:defRPr sz="1600" b="0">
                <a:solidFill>
                  <a:srgbClr val="FFFFFF"/>
                </a:solidFill>
                <a:latin typeface="Inter"/>
              </a:defRPr>
            </a:pPr>
            <a:r>
              <a:t>▸ Team capability — who knows what about AI</a:t>
            </a:r>
          </a:p>
        </p:txBody>
      </p:sp>
      <p:sp>
        <p:nvSpPr>
          <p:cNvPr id="6" name="TextBox 5"/>
          <p:cNvSpPr txBox="1"/>
          <p:nvPr/>
        </p:nvSpPr>
        <p:spPr>
          <a:xfrm>
            <a:off x="1828800" y="3337559"/>
            <a:ext cx="8229600" cy="548640"/>
          </a:xfrm>
          <a:prstGeom prst="rect">
            <a:avLst/>
          </a:prstGeom>
          <a:noFill/>
        </p:spPr>
        <p:txBody>
          <a:bodyPr wrap="square">
            <a:spAutoFit/>
          </a:bodyPr>
          <a:lstStyle/>
          <a:p>
            <a:pPr algn="l">
              <a:defRPr sz="1600" b="0">
                <a:solidFill>
                  <a:srgbClr val="FFFFFF"/>
                </a:solidFill>
                <a:latin typeface="Inter"/>
              </a:defRPr>
            </a:pPr>
            <a:r>
              <a:t>▸ Compliance posture against EU AI Act requirements</a:t>
            </a:r>
          </a:p>
        </p:txBody>
      </p:sp>
      <p:sp>
        <p:nvSpPr>
          <p:cNvPr id="7" name="TextBox 6"/>
          <p:cNvSpPr txBox="1"/>
          <p:nvPr/>
        </p:nvSpPr>
        <p:spPr>
          <a:xfrm>
            <a:off x="1828800" y="3840479"/>
            <a:ext cx="8229600" cy="548640"/>
          </a:xfrm>
          <a:prstGeom prst="rect">
            <a:avLst/>
          </a:prstGeom>
          <a:noFill/>
        </p:spPr>
        <p:txBody>
          <a:bodyPr wrap="square">
            <a:spAutoFit/>
          </a:bodyPr>
          <a:lstStyle/>
          <a:p>
            <a:pPr algn="l">
              <a:defRPr sz="1600" b="0">
                <a:solidFill>
                  <a:srgbClr val="FFFFFF"/>
                </a:solidFill>
                <a:latin typeface="Inter"/>
              </a:defRPr>
            </a:pPr>
            <a:r>
              <a:t>▸ Competitor AI activity in your sector</a:t>
            </a:r>
          </a:p>
        </p:txBody>
      </p:sp>
      <p:sp>
        <p:nvSpPr>
          <p:cNvPr id="8" name="TextBox 7"/>
          <p:cNvSpPr txBox="1"/>
          <p:nvPr/>
        </p:nvSpPr>
        <p:spPr>
          <a:xfrm>
            <a:off x="1828800" y="4343399"/>
            <a:ext cx="8229600" cy="548640"/>
          </a:xfrm>
          <a:prstGeom prst="rect">
            <a:avLst/>
          </a:prstGeom>
          <a:noFill/>
        </p:spPr>
        <p:txBody>
          <a:bodyPr wrap="square">
            <a:spAutoFit/>
          </a:bodyPr>
          <a:lstStyle/>
          <a:p>
            <a:pPr algn="l">
              <a:defRPr sz="1600" b="0">
                <a:solidFill>
                  <a:srgbClr val="FFFFFF"/>
                </a:solidFill>
                <a:latin typeface="Inter"/>
              </a:defRPr>
            </a:pPr>
            <a:r>
              <a:t>▸ Automation opportunities ranked by ROI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1371600" y="457200"/>
            <a:ext cx="9144000" cy="731520"/>
          </a:xfrm>
          <a:prstGeom prst="rect">
            <a:avLst/>
          </a:prstGeom>
          <a:noFill/>
        </p:spPr>
        <p:txBody>
          <a:bodyPr wrap="square">
            <a:spAutoFit/>
          </a:bodyPr>
          <a:lstStyle/>
          <a:p>
            <a:pPr algn="l">
              <a:defRPr sz="2800" b="1">
                <a:solidFill>
                  <a:srgbClr val="FFFFFF"/>
                </a:solidFill>
                <a:latin typeface="Inter"/>
              </a:defRPr>
            </a:pPr>
            <a:r>
              <a:t>Key findings</a:t>
            </a:r>
          </a:p>
        </p:txBody>
      </p:sp>
      <p:sp>
        <p:nvSpPr>
          <p:cNvPr id="3" name="TextBox 2"/>
          <p:cNvSpPr txBox="1"/>
          <p:nvPr/>
        </p:nvSpPr>
        <p:spPr>
          <a:xfrm>
            <a:off x="1371600" y="1645920"/>
            <a:ext cx="4114800" cy="457200"/>
          </a:xfrm>
          <a:prstGeom prst="rect">
            <a:avLst/>
          </a:prstGeom>
          <a:noFill/>
        </p:spPr>
        <p:txBody>
          <a:bodyPr wrap="square">
            <a:spAutoFit/>
          </a:bodyPr>
          <a:lstStyle/>
          <a:p>
            <a:pPr algn="l">
              <a:defRPr sz="2000" b="1">
                <a:solidFill>
                  <a:srgbClr val="7C3AED"/>
                </a:solidFill>
                <a:latin typeface="Inter"/>
              </a:defRPr>
            </a:pPr>
            <a:r>
              <a:t>Strengths</a:t>
            </a:r>
          </a:p>
        </p:txBody>
      </p:sp>
      <p:sp>
        <p:nvSpPr>
          <p:cNvPr id="4" name="TextBox 3"/>
          <p:cNvSpPr txBox="1"/>
          <p:nvPr/>
        </p:nvSpPr>
        <p:spPr>
          <a:xfrm>
            <a:off x="1645920" y="2286000"/>
            <a:ext cx="3840480" cy="457200"/>
          </a:xfrm>
          <a:prstGeom prst="rect">
            <a:avLst/>
          </a:prstGeom>
          <a:noFill/>
        </p:spPr>
        <p:txBody>
          <a:bodyPr wrap="square">
            <a:spAutoFit/>
          </a:bodyPr>
          <a:lstStyle/>
          <a:p>
            <a:pPr algn="l">
              <a:defRPr sz="1400" b="0">
                <a:solidFill>
                  <a:srgbClr val="FFFFFF"/>
                </a:solidFill>
                <a:latin typeface="Inter"/>
              </a:defRPr>
            </a:pPr>
            <a:r>
              <a:t>▸ Existing infrastructure that supports AI</a:t>
            </a:r>
          </a:p>
        </p:txBody>
      </p:sp>
      <p:sp>
        <p:nvSpPr>
          <p:cNvPr id="5" name="TextBox 4"/>
          <p:cNvSpPr txBox="1"/>
          <p:nvPr/>
        </p:nvSpPr>
        <p:spPr>
          <a:xfrm>
            <a:off x="1645920" y="2697480"/>
            <a:ext cx="3840480" cy="457200"/>
          </a:xfrm>
          <a:prstGeom prst="rect">
            <a:avLst/>
          </a:prstGeom>
          <a:noFill/>
        </p:spPr>
        <p:txBody>
          <a:bodyPr wrap="square">
            <a:spAutoFit/>
          </a:bodyPr>
          <a:lstStyle/>
          <a:p>
            <a:pPr algn="l">
              <a:defRPr sz="1400" b="0">
                <a:solidFill>
                  <a:srgbClr val="FFFFFF"/>
                </a:solidFill>
                <a:latin typeface="Inter"/>
              </a:defRPr>
            </a:pPr>
            <a:r>
              <a:t>▸ Data assets that can be leveraged</a:t>
            </a:r>
          </a:p>
        </p:txBody>
      </p:sp>
      <p:sp>
        <p:nvSpPr>
          <p:cNvPr id="6" name="TextBox 5"/>
          <p:cNvSpPr txBox="1"/>
          <p:nvPr/>
        </p:nvSpPr>
        <p:spPr>
          <a:xfrm>
            <a:off x="1645920" y="3108960"/>
            <a:ext cx="3840480" cy="457200"/>
          </a:xfrm>
          <a:prstGeom prst="rect">
            <a:avLst/>
          </a:prstGeom>
          <a:noFill/>
        </p:spPr>
        <p:txBody>
          <a:bodyPr wrap="square">
            <a:spAutoFit/>
          </a:bodyPr>
          <a:lstStyle/>
          <a:p>
            <a:pPr algn="l">
              <a:defRPr sz="1400" b="0">
                <a:solidFill>
                  <a:srgbClr val="FFFFFF"/>
                </a:solidFill>
                <a:latin typeface="Inter"/>
              </a:defRPr>
            </a:pPr>
            <a:r>
              <a:t>▸ Team members with AI aptitude</a:t>
            </a:r>
          </a:p>
        </p:txBody>
      </p:sp>
      <p:sp>
        <p:nvSpPr>
          <p:cNvPr id="7" name="TextBox 6"/>
          <p:cNvSpPr txBox="1"/>
          <p:nvPr/>
        </p:nvSpPr>
        <p:spPr>
          <a:xfrm>
            <a:off x="6400800" y="1645920"/>
            <a:ext cx="4114800" cy="457200"/>
          </a:xfrm>
          <a:prstGeom prst="rect">
            <a:avLst/>
          </a:prstGeom>
          <a:noFill/>
        </p:spPr>
        <p:txBody>
          <a:bodyPr wrap="square">
            <a:spAutoFit/>
          </a:bodyPr>
          <a:lstStyle/>
          <a:p>
            <a:pPr algn="l">
              <a:defRPr sz="2000" b="1">
                <a:solidFill>
                  <a:srgbClr val="7C3AED"/>
                </a:solidFill>
                <a:latin typeface="Inter"/>
              </a:defRPr>
            </a:pPr>
            <a:r>
              <a:t>Opportunities</a:t>
            </a:r>
          </a:p>
        </p:txBody>
      </p:sp>
      <p:sp>
        <p:nvSpPr>
          <p:cNvPr id="8" name="TextBox 7"/>
          <p:cNvSpPr txBox="1"/>
          <p:nvPr/>
        </p:nvSpPr>
        <p:spPr>
          <a:xfrm>
            <a:off x="6675120" y="2286000"/>
            <a:ext cx="3840480" cy="457200"/>
          </a:xfrm>
          <a:prstGeom prst="rect">
            <a:avLst/>
          </a:prstGeom>
          <a:noFill/>
        </p:spPr>
        <p:txBody>
          <a:bodyPr wrap="square">
            <a:spAutoFit/>
          </a:bodyPr>
          <a:lstStyle/>
          <a:p>
            <a:pPr algn="l">
              <a:defRPr sz="1400" b="0">
                <a:solidFill>
                  <a:srgbClr val="FFFFFF"/>
                </a:solidFill>
                <a:latin typeface="Inter"/>
              </a:defRPr>
            </a:pPr>
            <a:r>
              <a:t>▸ Immediate automation wins (low effort, high impact)</a:t>
            </a:r>
          </a:p>
        </p:txBody>
      </p:sp>
      <p:sp>
        <p:nvSpPr>
          <p:cNvPr id="9" name="TextBox 8"/>
          <p:cNvSpPr txBox="1"/>
          <p:nvPr/>
        </p:nvSpPr>
        <p:spPr>
          <a:xfrm>
            <a:off x="6675120" y="2697480"/>
            <a:ext cx="3840480" cy="457200"/>
          </a:xfrm>
          <a:prstGeom prst="rect">
            <a:avLst/>
          </a:prstGeom>
          <a:noFill/>
        </p:spPr>
        <p:txBody>
          <a:bodyPr wrap="square">
            <a:spAutoFit/>
          </a:bodyPr>
          <a:lstStyle/>
          <a:p>
            <a:pPr algn="l">
              <a:defRPr sz="1400" b="0">
                <a:solidFill>
                  <a:srgbClr val="FFFFFF"/>
                </a:solidFill>
                <a:latin typeface="Inter"/>
              </a:defRPr>
            </a:pPr>
            <a:r>
              <a:t>▸ Compliance gaps to close before enforcement</a:t>
            </a:r>
          </a:p>
        </p:txBody>
      </p:sp>
      <p:sp>
        <p:nvSpPr>
          <p:cNvPr id="10" name="TextBox 9"/>
          <p:cNvSpPr txBox="1"/>
          <p:nvPr/>
        </p:nvSpPr>
        <p:spPr>
          <a:xfrm>
            <a:off x="6675120" y="3108960"/>
            <a:ext cx="3840480" cy="457200"/>
          </a:xfrm>
          <a:prstGeom prst="rect">
            <a:avLst/>
          </a:prstGeom>
          <a:noFill/>
        </p:spPr>
        <p:txBody>
          <a:bodyPr wrap="square">
            <a:spAutoFit/>
          </a:bodyPr>
          <a:lstStyle/>
          <a:p>
            <a:pPr algn="l">
              <a:defRPr sz="1400" b="0">
                <a:solidFill>
                  <a:srgbClr val="FFFFFF"/>
                </a:solidFill>
                <a:latin typeface="Inter"/>
              </a:defRPr>
            </a:pPr>
            <a:r>
              <a:t>▸ Quick wins to build momentum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1371600" y="457200"/>
            <a:ext cx="914400" cy="457200"/>
          </a:xfrm>
          <a:prstGeom prst="rect">
            <a:avLst/>
          </a:prstGeom>
          <a:noFill/>
        </p:spPr>
        <p:txBody>
          <a:bodyPr wrap="square">
            <a:spAutoFit/>
          </a:bodyPr>
          <a:lstStyle/>
          <a:p>
            <a:pPr algn="l">
              <a:defRPr sz="1600" b="1">
                <a:solidFill>
                  <a:srgbClr val="7C3AED"/>
                </a:solidFill>
                <a:latin typeface="Inter"/>
              </a:defRPr>
            </a:pPr>
            <a:r>
              <a:t>04</a:t>
            </a:r>
          </a:p>
        </p:txBody>
      </p:sp>
      <p:sp>
        <p:nvSpPr>
          <p:cNvPr id="3" name="TextBox 2"/>
          <p:cNvSpPr txBox="1"/>
          <p:nvPr/>
        </p:nvSpPr>
        <p:spPr>
          <a:xfrm>
            <a:off x="1371600" y="1371600"/>
            <a:ext cx="9144000" cy="1371600"/>
          </a:xfrm>
          <a:prstGeom prst="rect">
            <a:avLst/>
          </a:prstGeom>
          <a:noFill/>
        </p:spPr>
        <p:txBody>
          <a:bodyPr wrap="square">
            <a:spAutoFit/>
          </a:bodyPr>
          <a:lstStyle/>
          <a:p>
            <a:pPr algn="l">
              <a:defRPr sz="3600" b="1">
                <a:solidFill>
                  <a:srgbClr val="FFFFFF"/>
                </a:solidFill>
                <a:latin typeface="Inter"/>
              </a:defRPr>
            </a:pPr>
            <a:r>
              <a:t>Your 90-day roadmap</a:t>
            </a:r>
          </a:p>
        </p:txBody>
      </p:sp>
      <p:sp>
        <p:nvSpPr>
          <p:cNvPr id="4" name="TextBox 3"/>
          <p:cNvSpPr txBox="1"/>
          <p:nvPr/>
        </p:nvSpPr>
        <p:spPr>
          <a:xfrm>
            <a:off x="1371600" y="2926080"/>
            <a:ext cx="7315200" cy="1828800"/>
          </a:xfrm>
          <a:prstGeom prst="rect">
            <a:avLst/>
          </a:prstGeom>
          <a:noFill/>
        </p:spPr>
        <p:txBody>
          <a:bodyPr wrap="square">
            <a:spAutoFit/>
          </a:bodyPr>
          <a:lstStyle/>
          <a:p>
            <a:pPr algn="l">
              <a:defRPr sz="1800" b="0">
                <a:solidFill>
                  <a:srgbClr val="8A8A8E"/>
                </a:solidFill>
                <a:latin typeface="Inter"/>
              </a:defRPr>
            </a:pPr>
            <a:r>
              <a:t>Week-by-week plan. What to do, in what order, with what resources. Prioritized so you get wins early while building toward larger transformation.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1371600" y="914400"/>
            <a:ext cx="9144000" cy="914400"/>
          </a:xfrm>
          <a:prstGeom prst="rect">
            <a:avLst/>
          </a:prstGeom>
          <a:noFill/>
        </p:spPr>
        <p:txBody>
          <a:bodyPr wrap="square">
            <a:spAutoFit/>
          </a:bodyPr>
          <a:lstStyle/>
          <a:p>
            <a:pPr algn="l">
              <a:defRPr sz="3600" b="1">
                <a:solidFill>
                  <a:srgbClr val="FFFFFF"/>
                </a:solidFill>
                <a:latin typeface="Inter"/>
              </a:defRPr>
            </a:pPr>
            <a:r>
              <a:t>Next steps</a:t>
            </a:r>
          </a:p>
        </p:txBody>
      </p:sp>
      <p:sp>
        <p:nvSpPr>
          <p:cNvPr id="3" name="TextBox 2"/>
          <p:cNvSpPr txBox="1"/>
          <p:nvPr/>
        </p:nvSpPr>
        <p:spPr>
          <a:xfrm>
            <a:off x="1828800" y="2286000"/>
            <a:ext cx="8229600" cy="731520"/>
          </a:xfrm>
          <a:prstGeom prst="rect">
            <a:avLst/>
          </a:prstGeom>
          <a:noFill/>
        </p:spPr>
        <p:txBody>
          <a:bodyPr wrap="square">
            <a:spAutoFit/>
          </a:bodyPr>
          <a:lstStyle/>
          <a:p>
            <a:pPr algn="l">
              <a:defRPr sz="2000" b="0">
                <a:solidFill>
                  <a:srgbClr val="FFFFFF"/>
                </a:solidFill>
                <a:latin typeface="Inter"/>
              </a:defRPr>
            </a:pPr>
            <a:r>
              <a:t>1.  Review this deck with your leadership team</a:t>
            </a:r>
          </a:p>
        </p:txBody>
      </p:sp>
      <p:sp>
        <p:nvSpPr>
          <p:cNvPr id="4" name="TextBox 3"/>
          <p:cNvSpPr txBox="1"/>
          <p:nvPr/>
        </p:nvSpPr>
        <p:spPr>
          <a:xfrm>
            <a:off x="1828800" y="3383280"/>
            <a:ext cx="8229600" cy="731520"/>
          </a:xfrm>
          <a:prstGeom prst="rect">
            <a:avLst/>
          </a:prstGeom>
          <a:noFill/>
        </p:spPr>
        <p:txBody>
          <a:bodyPr wrap="square">
            <a:spAutoFit/>
          </a:bodyPr>
          <a:lstStyle/>
          <a:p>
            <a:pPr algn="l">
              <a:defRPr sz="2000" b="0">
                <a:solidFill>
                  <a:srgbClr val="FFFFFF"/>
                </a:solidFill>
                <a:latin typeface="Inter"/>
              </a:defRPr>
            </a:pPr>
            <a:r>
              <a:t>2.  Decide which automation opportunities to pursue first</a:t>
            </a:r>
          </a:p>
        </p:txBody>
      </p:sp>
      <p:sp>
        <p:nvSpPr>
          <p:cNvPr id="5" name="TextBox 4"/>
          <p:cNvSpPr txBox="1"/>
          <p:nvPr/>
        </p:nvSpPr>
        <p:spPr>
          <a:xfrm>
            <a:off x="1828800" y="4480560"/>
            <a:ext cx="8229600" cy="731520"/>
          </a:xfrm>
          <a:prstGeom prst="rect">
            <a:avLst/>
          </a:prstGeom>
          <a:noFill/>
        </p:spPr>
        <p:txBody>
          <a:bodyPr wrap="square">
            <a:spAutoFit/>
          </a:bodyPr>
          <a:lstStyle/>
          <a:p>
            <a:pPr algn="l">
              <a:defRPr sz="2000" b="0">
                <a:solidFill>
                  <a:srgbClr val="FFFFFF"/>
                </a:solidFill>
                <a:latin typeface="Inter"/>
              </a:defRPr>
            </a:pPr>
            <a:r>
              <a:t>3.  Book a follow-up strategy session to design the implementation plan</a:t>
            </a:r>
          </a:p>
        </p:txBody>
      </p:sp>
      <p:sp>
        <p:nvSpPr>
          <p:cNvPr id="6" name="TextBox 5"/>
          <p:cNvSpPr txBox="1"/>
          <p:nvPr/>
        </p:nvSpPr>
        <p:spPr>
          <a:xfrm>
            <a:off x="1828800" y="5577840"/>
            <a:ext cx="8229600" cy="731520"/>
          </a:xfrm>
          <a:prstGeom prst="rect">
            <a:avLst/>
          </a:prstGeom>
          <a:noFill/>
        </p:spPr>
        <p:txBody>
          <a:bodyPr wrap="square">
            <a:spAutoFit/>
          </a:bodyPr>
          <a:lstStyle/>
          <a:p>
            <a:pPr algn="l">
              <a:defRPr sz="2000" b="0">
                <a:solidFill>
                  <a:srgbClr val="FFFFFF"/>
                </a:solidFill>
                <a:latin typeface="Inter"/>
              </a:defRPr>
            </a:pPr>
            <a:r>
              <a:t>4.  Share the compliance checklist with your legal/compliance team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1371600" y="1828800"/>
            <a:ext cx="9144000" cy="1371600"/>
          </a:xfrm>
          <a:prstGeom prst="rect">
            <a:avLst/>
          </a:prstGeom>
          <a:noFill/>
        </p:spPr>
        <p:txBody>
          <a:bodyPr wrap="square">
            <a:spAutoFit/>
          </a:bodyPr>
          <a:lstStyle/>
          <a:p>
            <a:pPr algn="l">
              <a:defRPr sz="4800" b="1">
                <a:solidFill>
                  <a:srgbClr val="FFFFFF"/>
                </a:solidFill>
                <a:latin typeface="Inter"/>
              </a:defRPr>
            </a:pPr>
            <a:r>
              <a:t>Let's build this.</a:t>
            </a:r>
          </a:p>
        </p:txBody>
      </p:sp>
      <p:sp>
        <p:nvSpPr>
          <p:cNvPr id="3" name="TextBox 2"/>
          <p:cNvSpPr txBox="1"/>
          <p:nvPr/>
        </p:nvSpPr>
        <p:spPr>
          <a:xfrm>
            <a:off x="1371600" y="3657600"/>
            <a:ext cx="9144000" cy="914400"/>
          </a:xfrm>
          <a:prstGeom prst="rect">
            <a:avLst/>
          </a:prstGeom>
          <a:noFill/>
        </p:spPr>
        <p:txBody>
          <a:bodyPr wrap="square">
            <a:spAutoFit/>
          </a:bodyPr>
          <a:lstStyle/>
          <a:p>
            <a:pPr algn="l">
              <a:defRPr sz="2400" b="0">
                <a:solidFill>
                  <a:srgbClr val="8A8A8E"/>
                </a:solidFill>
                <a:latin typeface="Inter"/>
              </a:defRPr>
            </a:pPr>
            <a:r>
              <a:t>Dylan Cleary</a:t>
            </a:r>
          </a:p>
        </p:txBody>
      </p:sp>
      <p:sp>
        <p:nvSpPr>
          <p:cNvPr id="4" name="TextBox 3"/>
          <p:cNvSpPr txBox="1"/>
          <p:nvPr/>
        </p:nvSpPr>
        <p:spPr>
          <a:xfrm>
            <a:off x="1371600" y="4206240"/>
            <a:ext cx="9144000" cy="548640"/>
          </a:xfrm>
          <a:prstGeom prst="rect">
            <a:avLst/>
          </a:prstGeom>
          <a:noFill/>
        </p:spPr>
        <p:txBody>
          <a:bodyPr wrap="square">
            <a:spAutoFit/>
          </a:bodyPr>
          <a:lstStyle/>
          <a:p>
            <a:pPr algn="l">
              <a:defRPr sz="1600" b="0">
                <a:solidFill>
                  <a:srgbClr val="8A8A8E"/>
                </a:solidFill>
                <a:latin typeface="Inter"/>
              </a:defRPr>
            </a:pPr>
            <a:r>
              <a:t>dylan@autoprod.io  ·  Dublin Docklands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