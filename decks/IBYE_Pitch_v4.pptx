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Irish Companies (%)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Compliant</c:v>
                </c:pt>
                <c:pt idx="1">
                  <c:v>Partially Ready</c:v>
                </c:pt>
                <c:pt idx="2">
                  <c:v>No Plan</c:v>
                </c:pt>
                <c:pt idx="3">
                  <c:v>Unaware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52</c:v>
                </c:pt>
                <c:pt idx="3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Rate (€)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Sheet1!$A$2:$A$6</c:f>
              <c:strCache>
                <c:ptCount val="5"/>
                <c:pt idx="0">
                  <c:v>Big 4 (Deloitte)</c:v>
                </c:pt>
                <c:pt idx="1">
                  <c:v>SquareRoot</c:v>
                </c:pt>
                <c:pt idx="2">
                  <c:v>Artellis</c:v>
                </c:pt>
                <c:pt idx="3">
                  <c:v>Deep Purple AI</c:v>
                </c:pt>
                <c:pt idx="4">
                  <c:v>autoprod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2250</c:v>
                </c:pt>
                <c:pt idx="1">
                  <c:v>750</c:v>
                </c:pt>
                <c:pt idx="2">
                  <c:v>1100</c:v>
                </c:pt>
                <c:pt idx="3">
                  <c:v>900</c:v>
                </c:pt>
                <c:pt idx="4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dPt>
            <c:idx val="0"/>
            <c:spPr>
              <a:solidFill>
                <a:srgbClr val="7C3AED"/>
              </a:solidFill>
            </c:spPr>
          </c:dPt>
          <c:dPt>
            <c:idx val="1"/>
            <c:spPr>
              <a:solidFill>
                <a:srgbClr val="A78BFA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cat>
            <c:strRef>
              <c:f>Sheet1!$A$2:$A$5</c:f>
              <c:strCache>
                <c:ptCount val="4"/>
                <c:pt idx="0">
                  <c:v>Retainers</c:v>
                </c:pt>
                <c:pt idx="1">
                  <c:v>Strategy</c:v>
                </c:pt>
                <c:pt idx="2">
                  <c:v>Audits</c:v>
                </c:pt>
                <c:pt idx="3">
                  <c:v>Digital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94949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31750">
              <a:solidFill>
                <a:srgbClr val="7C3AED"/>
              </a:solidFill>
            </a:ln>
          </c:spP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750</c:v>
                </c:pt>
                <c:pt idx="3">
                  <c:v>1500</c:v>
                </c:pt>
                <c:pt idx="4">
                  <c:v>2750</c:v>
                </c:pt>
                <c:pt idx="5">
                  <c:v>2750</c:v>
                </c:pt>
                <c:pt idx="6">
                  <c:v>3500</c:v>
                </c:pt>
                <c:pt idx="7">
                  <c:v>4000</c:v>
                </c:pt>
                <c:pt idx="8">
                  <c:v>4000</c:v>
                </c:pt>
                <c:pt idx="9">
                  <c:v>4500</c:v>
                </c:pt>
                <c:pt idx="10">
                  <c:v>4500</c:v>
                </c:pt>
                <c:pt idx="11">
                  <c:v>5000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750</c:v>
                </c:pt>
                <c:pt idx="2">
                  <c:v>2000</c:v>
                </c:pt>
                <c:pt idx="3">
                  <c:v>3500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800">
                <a:solidFill>
                  <a:srgbClr val="94949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800">
                <a:solidFill>
                  <a:srgbClr val="94949E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94949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3428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7C3AED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94949E"/>
                </a:solidFill>
                <a:latin typeface="Arial"/>
              </a:defRPr>
            </a:pPr>
            <a:r>
              <a:t>AI Adoption &amp; Compliance for Irish Enterprise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C3AED"/>
                </a:solidFill>
                <a:latin typeface="Arial"/>
              </a:defRPr>
            </a:pPr>
            <a:r>
              <a:t>Ireland's Best Young Entrepreneur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9E"/>
                </a:solidFill>
                <a:latin typeface="Arial"/>
              </a:defRPr>
            </a:pPr>
            <a:r>
              <a:t>Dylan Cleary  ·  Dublin Docklands  ·  info@dylancleary.com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Irish businesses aren't ready for the EU AI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3,000+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Irish mid-market enterprises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€35M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Max fine per violation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Have no compliance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108960"/>
            <a:ext cx="91440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371600" y="3474720"/>
          <a:ext cx="5486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498079" y="347472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94949E"/>
                </a:solidFill>
                <a:latin typeface="Arial"/>
              </a:defRPr>
            </a:pPr>
            <a:r>
              <a:t>EU AI Act Readiness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Only 8% of Irish mid-market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companies are fully compliant.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76% have no plan or are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completely unaware.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Enforcement is live. Fines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are real. The clock is ticking.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What we deliver — and what the client walks away with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2651760" cy="438912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EU AI Act</a:t>
            </a:r>
            <a:br/>
            <a:r>
              <a:t>Compliance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€197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Instant Download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11880"/>
            <a:ext cx="2286000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Risk classification matrix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Implementation timeline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DPC guidance &amp; audit templates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Editable policy documents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Outcome: Self-assess compliance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in under 2 hours. Board-ready.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011680"/>
            <a:ext cx="2651760" cy="438912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AI Readiness</a:t>
            </a:r>
            <a:br/>
            <a: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€750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2-Hour 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3611880"/>
            <a:ext cx="2286000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3749039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Current AI posture assessment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Compliance gap analysis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Prioritized 90-day roadmap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Stakeholder debrief included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Outcome: Know exactly what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to fix, in what order, at what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2651760" cy="438912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AI Strategy</a:t>
            </a:r>
            <a:br/>
            <a: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€1,500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611880"/>
            <a:ext cx="2286000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39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Agentic workflow design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Automation roadmap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Compliance architecture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Board-ready implementation plan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Outcome: A plan your board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can approve and your team can execute.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011680"/>
            <a:ext cx="2651760" cy="438912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Advisory</a:t>
            </a:r>
            <a:br/>
            <a:r>
              <a:t>Retainer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€2,000/mo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3611880"/>
            <a:ext cx="2286000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3749039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Monthly strategy calls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Compliance monitoring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Vendor &amp; tool assessment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▸ Team enablement &amp; training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Outcome: An AI officer without</a:t>
            </a:r>
          </a:p>
          <a:p>
            <a:pPr>
              <a:spcAft>
                <a:spcPts val="50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the €120K full-time salary.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PRICING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Enterprise quality at mid-market pricing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371600" y="2011680"/>
          <a:ext cx="64008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94949E"/>
                </a:solidFill>
                <a:latin typeface="Arial"/>
              </a:defRPr>
            </a:pPr>
            <a:r>
              <a:t>Why we win on price: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No office overhead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No junior staff markup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No procurement process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Direct to practitioner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Same enterprise experience.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One-third the price.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846320"/>
            <a:ext cx="91440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Every engagement produces a concrete deliverable — no slideware, no buzzword bingo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Flexible scheduling: Dublin Docklands or Zoom. Evenings, weekends, and Mondays.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▸ EU AI Act compliance baked into every recommendation — not sold as an add-on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Live, operational, ready to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Enterprises contacted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Products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Automated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€17.5K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Grants pending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1371600" y="329184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583680" y="3474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94949E"/>
                </a:solidFill>
                <a:latin typeface="Arial"/>
              </a:defRPr>
            </a:pPr>
            <a:r>
              <a:t>Revenue Mix (Target)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Monthly retainers = predictable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income. Strategy + audits fill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the pipeline.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Digital products = passive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revenue, zero delivery cost.</a:t>
            </a: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Target: 5 retainers = €10K MRR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GROWTH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12-month revenue projection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371600" y="2011680"/>
          <a:ext cx="9144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Enterprise experience meets entrepreneurial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4+ years AI governance at global enterprise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Co-founded AI Council (200+ person org)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Built AI agents, trained 4 continents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Hospitality industry experience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NCI computing qualification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94949E"/>
                </a:solidFill>
                <a:latin typeface="Arial"/>
              </a:defRPr>
            </a:pPr>
            <a:r>
              <a:t>Why autoprod Wins</a:t>
            </a:r>
          </a:p>
          <a:p>
            <a:pPr>
              <a:spcAft>
                <a:spcPts val="500"/>
              </a:spcAft>
              <a:defRPr sz="15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Real governance — not theory</a:t>
            </a:r>
          </a:p>
          <a:p>
            <a:pPr>
              <a:spcAft>
                <a:spcPts val="5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Compliance focus = regulatory moat</a:t>
            </a:r>
          </a:p>
          <a:p>
            <a:pPr>
              <a:spcAft>
                <a:spcPts val="5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Mid-market pricing, enterprise quality</a:t>
            </a:r>
          </a:p>
          <a:p>
            <a:pPr>
              <a:spcAft>
                <a:spcPts val="5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Dublin Docklands, Ireland-first</a:t>
            </a:r>
          </a:p>
          <a:p>
            <a:pPr>
              <a:spcAft>
                <a:spcPts val="5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Building while employed = proven hustle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3428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Ireland needs AI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7C3AED"/>
                </a:solidFill>
                <a:latin typeface="Arial"/>
              </a:defRPr>
            </a:pPr>
            <a:r>
              <a:t>◈ autoprod is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27432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Dylan Cleary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info@dylancleary.com  ·  085 850 8668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Dublin Docklands  ·  autoprod.io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