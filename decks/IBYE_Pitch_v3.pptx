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Irish Companies (%)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Compliant</c:v>
                </c:pt>
                <c:pt idx="1">
                  <c:v>Partially
Ready</c:v>
                </c:pt>
                <c:pt idx="2">
                  <c:v>No Plan</c:v>
                </c:pt>
                <c:pt idx="3">
                  <c:v>Unaware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16</c:v>
                </c:pt>
                <c:pt idx="2">
                  <c:v>52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A1A2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Rate (€)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Sheet1!$A$2:$A$6</c:f>
              <c:strCache>
                <c:ptCount val="5"/>
                <c:pt idx="0">
                  <c:v>Big 4 (Deloitte)</c:v>
                </c:pt>
                <c:pt idx="1">
                  <c:v>SquareRoot</c:v>
                </c:pt>
                <c:pt idx="2">
                  <c:v>Artellis</c:v>
                </c:pt>
                <c:pt idx="3">
                  <c:v>Deep Purple</c:v>
                </c:pt>
                <c:pt idx="4">
                  <c:v>autoprod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2250</c:v>
                </c:pt>
                <c:pt idx="1">
                  <c:v>750</c:v>
                </c:pt>
                <c:pt idx="2">
                  <c:v>1100</c:v>
                </c:pt>
                <c:pt idx="3">
                  <c:v>900</c:v>
                </c:pt>
                <c:pt idx="4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1A1A2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900">
                <a:solidFill>
                  <a:srgbClr val="94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A78BFA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Retainers</c:v>
                </c:pt>
                <c:pt idx="1">
                  <c:v>Strategy Sessions</c:v>
                </c:pt>
                <c:pt idx="2">
                  <c:v>Audits</c:v>
                </c:pt>
                <c:pt idx="3">
                  <c:v>Digital Products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94949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31750">
              <a:solidFill>
                <a:srgbClr val="7C3AED"/>
              </a:solidFill>
            </a:ln>
          </c:spP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750</c:v>
                </c:pt>
                <c:pt idx="3">
                  <c:v>1500</c:v>
                </c:pt>
                <c:pt idx="4">
                  <c:v>2750</c:v>
                </c:pt>
                <c:pt idx="5">
                  <c:v>2750</c:v>
                </c:pt>
                <c:pt idx="6">
                  <c:v>3500</c:v>
                </c:pt>
                <c:pt idx="7">
                  <c:v>4000</c:v>
                </c:pt>
                <c:pt idx="8">
                  <c:v>4000</c:v>
                </c:pt>
                <c:pt idx="9">
                  <c:v>4500</c:v>
                </c:pt>
                <c:pt idx="10">
                  <c:v>4500</c:v>
                </c:pt>
                <c:pt idx="11">
                  <c:v>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750</c:v>
                </c:pt>
                <c:pt idx="2">
                  <c:v>2000</c:v>
                </c:pt>
                <c:pt idx="3">
                  <c:v>3500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  <c:pt idx="10">
                  <c:v>11000</c:v>
                </c:pt>
                <c:pt idx="11">
                  <c:v>12000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800">
                <a:solidFill>
                  <a:srgbClr val="94949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2A2A35"/>
            </a:solidFill>
          </a:ln>
        </c:spPr>
        <c:txPr>
          <a:bodyPr/>
          <a:lstStyle/>
          <a:p>
            <a:pPr>
              <a:defRPr sz="800">
                <a:solidFill>
                  <a:srgbClr val="94949E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94949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3428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7C3AED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94949E"/>
                </a:solidFill>
                <a:latin typeface="Arial"/>
              </a:defRPr>
            </a:pPr>
            <a:r>
              <a:t>AI Adoption &amp; Compliance for Irish 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C3AED"/>
                </a:solidFill>
                <a:latin typeface="Arial"/>
              </a:defRPr>
            </a:pPr>
            <a:r>
              <a:t>Ireland's Best Young Entrepreneur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E"/>
                </a:solidFill>
                <a:latin typeface="Arial"/>
              </a:defRPr>
            </a:pPr>
            <a:r>
              <a:t>Dylan Cleary  ·  Dublin Docklands  ·  info@dylancleary.com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Irish businesses aren't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3,000+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Irish mid-market enterprises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€35M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Maximum fine per AI Act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Have no AI compliance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10896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371600" y="3474720"/>
          <a:ext cx="5486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498079" y="347472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4949E"/>
                </a:solidFill>
                <a:latin typeface="Arial"/>
              </a:defRPr>
            </a:pPr>
            <a:r>
              <a:t>EU AI Act Readiness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Only 8% of Irish mid-market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companies are fully compliant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with the EU AI Act.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76% have no plan or are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completely unaware of their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obligations.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Enforcement is active. Fines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are real. The clock is ticking.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Enterprise AI governance at mid-market 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2468880" cy="182880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Compliance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€197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Self-serve framework.</a:t>
            </a:r>
            <a:br/>
            <a:r>
              <a:t>Instant download.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103120"/>
            <a:ext cx="2468880" cy="182880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Readiness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€750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2-hour session.</a:t>
            </a:r>
            <a:br/>
            <a:r>
              <a:t>Compliance gaps + roadmap.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468880" cy="182880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Strategy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€1,500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Agentic workflow design.</a:t>
            </a:r>
            <a:br/>
            <a:r>
              <a:t>Compliance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103120"/>
            <a:ext cx="2468880" cy="182880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Retainer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Arial"/>
              </a:defRPr>
            </a:pPr>
            <a:r>
              <a:t>€2,000/mo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3108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Fractional AI officer.</a:t>
            </a:r>
            <a:br/>
            <a:r>
              <a:t>Cancel anytime.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371600" y="4297680"/>
          <a:ext cx="91440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Live, operational, and ready to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Enterprises contacted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Automated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7C3AED"/>
                </a:solidFill>
                <a:latin typeface="Arial"/>
              </a:defRPr>
            </a:pPr>
            <a:r>
              <a:t>€17.5K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Grants pending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1371600" y="3291840"/>
          <a:ext cx="45720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58368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4949E"/>
                </a:solidFill>
                <a:latin typeface="Arial"/>
              </a:defRPr>
            </a:pPr>
            <a:r>
              <a:t>Revenue Model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Recurring retainers = predictable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monthly income. Strategy sessions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and audits fill the pipeline.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Digital products provide passive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income with zero delivery cost.</a:t>
            </a: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949E"/>
                </a:solidFill>
                <a:latin typeface="Arial"/>
              </a:defRPr>
            </a:pPr>
            <a:r>
              <a:t>Target: 5 retainers = €10K MRR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GROWTH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From side project to market leader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371600" y="201168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49E"/>
                </a:solidFill>
                <a:latin typeface="Arial"/>
              </a:defRPr>
            </a:pPr>
            <a:r>
              <a:t>◈ 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949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9128"/>
            <a:ext cx="12191695" cy="73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Arial"/>
              </a:defRPr>
            </a:pPr>
            <a: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Enterprise experience meets entrepreneurial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4+ years AI governance at global enterprise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Co-founded AI Council (200+ person org)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Built AI agents, trained 4 continents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Hospitality industry experience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▸ NCI computing qualification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94949E"/>
                </a:solidFill>
                <a:latin typeface="Arial"/>
              </a:defRPr>
            </a:pPr>
            <a:r>
              <a:t>Why autoprod Wins</a:t>
            </a: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Real governance frameworks — not theory</a:t>
            </a: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Compliance focus = regulatory moat</a:t>
            </a: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Mid-market pricing, enterprise quality</a:t>
            </a: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Dublin Docklands, Ireland-first</a:t>
            </a:r>
          </a:p>
          <a:p>
            <a:pPr>
              <a:spcAft>
                <a:spcPts val="600"/>
              </a:spcAft>
              <a:defRPr sz="1500">
                <a:solidFill>
                  <a:srgbClr val="94949E"/>
                </a:solidFill>
                <a:latin typeface="Arial"/>
              </a:defRPr>
            </a:pPr>
            <a:r>
              <a:t>▸ Building while employed = proven hustle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3428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Ireland needs AI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7C3AED"/>
                </a:solidFill>
                <a:latin typeface="Arial"/>
              </a:defRPr>
            </a:pPr>
            <a:r>
              <a:t>◈ autoprod is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27432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Dylan Cleary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info@dylancleary.com  ·  085 850 8668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Dublin Docklands  ·  autoprod.io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